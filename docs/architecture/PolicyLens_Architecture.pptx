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48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3A5F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PolicyLens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92024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System Architecture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92024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pluggable agents  •  Hybrid retrieval  •  LLM auto-failover  •  Zero-cost deployment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9728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Sarvesh Mokal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0" y="73152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920" y="731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INPUT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234440" y="73152"/>
            <a:ext cx="9326880" cy="1051560"/>
          </a:xfrm>
          <a:prstGeom prst="roundRect">
            <a:avLst>
              <a:gd name="adj" fmla="val 10435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234440" y="9144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UI &amp; API Gateway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463040" y="347472"/>
            <a:ext cx="278892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92" y="393192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84832" y="402336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084832" y="60350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agent status,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logs &amp; analytics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4434840" y="347472"/>
            <a:ext cx="278892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93192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56632" y="402336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56632" y="60350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for all services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7406640" y="347472"/>
            <a:ext cx="278892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393192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28432" y="402336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8028432" y="60350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PDFs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ingestion pipeline</a:t>
            </a:r>
            <a:endParaRPr lang="en-US" sz="7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5640" y="73152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652760" y="749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answers,</a:t>
            </a:r>
            <a:endParaRPr lang="en-US" sz="7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749808" y="411480"/>
            <a:ext cx="43891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4"/>
          <p:cNvSpPr/>
          <p:nvPr/>
        </p:nvSpPr>
        <p:spPr>
          <a:xfrm>
            <a:off x="10561320" y="411480"/>
            <a:ext cx="25603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152" y="1124338"/>
            <a:ext cx="18288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37160" y="1362270"/>
            <a:ext cx="11887200" cy="2976464"/>
          </a:xfrm>
          <a:prstGeom prst="roundRect">
            <a:avLst>
              <a:gd name="adj" fmla="val 4918"/>
            </a:avLst>
          </a:prstGeom>
          <a:solidFill>
            <a:srgbClr val="E8F5E9"/>
          </a:solidFill>
          <a:ln w="15240">
            <a:solidFill>
              <a:srgbClr val="43A04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>
            <a:off x="137160" y="1353125"/>
            <a:ext cx="1393546" cy="2985609"/>
          </a:xfrm>
          <a:prstGeom prst="roundRect">
            <a:avLst>
              <a:gd name="adj" fmla="val 967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7"/>
          <p:cNvSpPr/>
          <p:nvPr/>
        </p:nvSpPr>
        <p:spPr>
          <a:xfrm>
            <a:off x="1280160" y="1389888"/>
            <a:ext cx="219456" cy="2788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182880" y="1389888"/>
            <a:ext cx="1325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(LangGraph +</a:t>
            </a:r>
            <a:endParaRPr lang="en-US" sz="15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Pluggable</a:t>
            </a:r>
            <a:endParaRPr lang="en-US" sz="15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Agents)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1691640" y="1508947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5476" y="1536192"/>
            <a:ext cx="530352" cy="53035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46504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Engine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746504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with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decision nodes</a:t>
            </a:r>
            <a:endParaRPr lang="en-US" sz="750" dirty="0"/>
          </a:p>
        </p:txBody>
      </p:sp>
      <p:sp>
        <p:nvSpPr>
          <p:cNvPr id="31" name="Shape 22"/>
          <p:cNvSpPr/>
          <p:nvPr/>
        </p:nvSpPr>
        <p:spPr>
          <a:xfrm>
            <a:off x="4279392" y="1499616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3228" y="1536192"/>
            <a:ext cx="530352" cy="53035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334256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4334256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sparse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dense search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α-weighted fusion</a:t>
            </a:r>
            <a:endParaRPr lang="en-US" sz="750" dirty="0"/>
          </a:p>
        </p:txBody>
      </p:sp>
      <p:sp>
        <p:nvSpPr>
          <p:cNvPr id="35" name="Shape 25"/>
          <p:cNvSpPr/>
          <p:nvPr/>
        </p:nvSpPr>
        <p:spPr>
          <a:xfrm>
            <a:off x="6867144" y="1499616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980" y="1536192"/>
            <a:ext cx="530352" cy="53035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22008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Debate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922008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generation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DebateA/B adversarial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</a:t>
            </a:r>
            <a:endParaRPr lang="en-US" sz="750" dirty="0"/>
          </a:p>
        </p:txBody>
      </p:sp>
      <p:sp>
        <p:nvSpPr>
          <p:cNvPr id="39" name="Shape 28"/>
          <p:cNvSpPr/>
          <p:nvPr/>
        </p:nvSpPr>
        <p:spPr>
          <a:xfrm>
            <a:off x="9454896" y="1499616"/>
            <a:ext cx="2478024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8732" y="1536192"/>
            <a:ext cx="530352" cy="53035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509760" y="2084832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+ NLI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9509760" y="2267712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BART-MNLI checks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 ≥ 0.8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re-retrieve</a:t>
            </a:r>
            <a:endParaRPr lang="en-US" sz="75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7952" y="2002536"/>
            <a:ext cx="182880" cy="91440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5704" y="2002536"/>
            <a:ext cx="182880" cy="91440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3456" y="2002536"/>
            <a:ext cx="182880" cy="91440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1691640" y="2706623"/>
            <a:ext cx="5325466" cy="1554481"/>
          </a:xfrm>
          <a:prstGeom prst="rect">
            <a:avLst/>
          </a:prstGeom>
          <a:solidFill>
            <a:srgbClr val="FFFFFF"/>
          </a:solidFill>
          <a:ln w="1016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3080" y="2761488"/>
            <a:ext cx="384048" cy="384048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2221992" y="2779776"/>
            <a:ext cx="4731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100" dirty="0"/>
          </a:p>
        </p:txBody>
      </p:sp>
      <p:sp>
        <p:nvSpPr>
          <p:cNvPr id="49" name="Text 33"/>
          <p:cNvSpPr/>
          <p:nvPr/>
        </p:nvSpPr>
        <p:spPr>
          <a:xfrm>
            <a:off x="2221992" y="2980944"/>
            <a:ext cx="47311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architecture — toggle any agent via YAML config</a:t>
            </a:r>
            <a:endParaRPr lang="en-US" sz="800" dirty="0"/>
          </a:p>
        </p:txBody>
      </p:sp>
      <p:sp>
        <p:nvSpPr>
          <p:cNvPr id="50" name="Shape 34"/>
          <p:cNvSpPr/>
          <p:nvPr/>
        </p:nvSpPr>
        <p:spPr>
          <a:xfrm>
            <a:off x="1783080" y="3209544"/>
            <a:ext cx="2502713" cy="438912"/>
          </a:xfrm>
          <a:prstGeom prst="rect">
            <a:avLst/>
          </a:prstGeom>
          <a:solidFill>
            <a:srgbClr val="E3F2FD"/>
          </a:solidFill>
          <a:ln w="889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35"/>
          <p:cNvSpPr/>
          <p:nvPr/>
        </p:nvSpPr>
        <p:spPr>
          <a:xfrm>
            <a:off x="1837944" y="3236976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(4)</a:t>
            </a:r>
            <a:endParaRPr lang="en-US" sz="800" dirty="0"/>
          </a:p>
        </p:txBody>
      </p:sp>
      <p:sp>
        <p:nvSpPr>
          <p:cNvPr id="52" name="Text 36"/>
          <p:cNvSpPr/>
          <p:nvPr/>
        </p:nvSpPr>
        <p:spPr>
          <a:xfrm>
            <a:off x="1837944" y="3392424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DocProcessor, Preprocessor,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Embedding, TopicModel</a:t>
            </a:r>
            <a:endParaRPr lang="en-US" sz="700" dirty="0"/>
          </a:p>
        </p:txBody>
      </p:sp>
      <p:sp>
        <p:nvSpPr>
          <p:cNvPr id="53" name="Shape 37"/>
          <p:cNvSpPr/>
          <p:nvPr/>
        </p:nvSpPr>
        <p:spPr>
          <a:xfrm>
            <a:off x="4395521" y="3209544"/>
            <a:ext cx="2502713" cy="438912"/>
          </a:xfrm>
          <a:prstGeom prst="rect">
            <a:avLst/>
          </a:prstGeom>
          <a:solidFill>
            <a:srgbClr val="E8F5E9"/>
          </a:solidFill>
          <a:ln w="889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38"/>
          <p:cNvSpPr/>
          <p:nvPr/>
        </p:nvSpPr>
        <p:spPr>
          <a:xfrm>
            <a:off x="4450385" y="3236976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(4)</a:t>
            </a:r>
            <a:endParaRPr lang="en-US" sz="800" dirty="0"/>
          </a:p>
        </p:txBody>
      </p:sp>
      <p:sp>
        <p:nvSpPr>
          <p:cNvPr id="55" name="Text 39"/>
          <p:cNvSpPr/>
          <p:nvPr/>
        </p:nvSpPr>
        <p:spPr>
          <a:xfrm>
            <a:off x="4450385" y="3392424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Retriever,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Reranker, Synthesizer</a:t>
            </a:r>
            <a:endParaRPr lang="en-US" sz="700" dirty="0"/>
          </a:p>
        </p:txBody>
      </p:sp>
      <p:sp>
        <p:nvSpPr>
          <p:cNvPr id="56" name="Shape 40"/>
          <p:cNvSpPr/>
          <p:nvPr/>
        </p:nvSpPr>
        <p:spPr>
          <a:xfrm>
            <a:off x="1783080" y="3721608"/>
            <a:ext cx="2502713" cy="438912"/>
          </a:xfrm>
          <a:prstGeom prst="rect">
            <a:avLst/>
          </a:prstGeom>
          <a:solidFill>
            <a:srgbClr val="FFF8E1"/>
          </a:solidFill>
          <a:ln w="889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41"/>
          <p:cNvSpPr/>
          <p:nvPr/>
        </p:nvSpPr>
        <p:spPr>
          <a:xfrm>
            <a:off x="1837944" y="3749040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(4)</a:t>
            </a:r>
            <a:endParaRPr lang="en-US" sz="800" dirty="0"/>
          </a:p>
        </p:txBody>
      </p:sp>
      <p:sp>
        <p:nvSpPr>
          <p:cNvPr id="58" name="Text 42"/>
          <p:cNvSpPr/>
          <p:nvPr/>
        </p:nvSpPr>
        <p:spPr>
          <a:xfrm>
            <a:off x="1837944" y="3904488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DebateA/B, Verifier, NLI</a:t>
            </a:r>
            <a:endParaRPr lang="en-US" sz="700" dirty="0"/>
          </a:p>
        </p:txBody>
      </p:sp>
      <p:sp>
        <p:nvSpPr>
          <p:cNvPr id="59" name="Shape 43"/>
          <p:cNvSpPr/>
          <p:nvPr/>
        </p:nvSpPr>
        <p:spPr>
          <a:xfrm>
            <a:off x="4395521" y="3721608"/>
            <a:ext cx="2502713" cy="438912"/>
          </a:xfrm>
          <a:prstGeom prst="rect">
            <a:avLst/>
          </a:prstGeom>
          <a:solidFill>
            <a:srgbClr val="FFEBEE"/>
          </a:solidFill>
          <a:ln w="889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44"/>
          <p:cNvSpPr/>
          <p:nvPr/>
        </p:nvSpPr>
        <p:spPr>
          <a:xfrm>
            <a:off x="4450385" y="3749040"/>
            <a:ext cx="239298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(3)</a:t>
            </a:r>
            <a:endParaRPr lang="en-US" sz="800" dirty="0"/>
          </a:p>
        </p:txBody>
      </p:sp>
      <p:sp>
        <p:nvSpPr>
          <p:cNvPr id="61" name="Text 45"/>
          <p:cNvSpPr/>
          <p:nvPr/>
        </p:nvSpPr>
        <p:spPr>
          <a:xfrm>
            <a:off x="4450385" y="3904488"/>
            <a:ext cx="23929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Evaluator, MultiLingual,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700" dirty="0"/>
          </a:p>
        </p:txBody>
      </p:sp>
      <p:sp>
        <p:nvSpPr>
          <p:cNvPr id="62" name="Shape 46"/>
          <p:cNvSpPr/>
          <p:nvPr/>
        </p:nvSpPr>
        <p:spPr>
          <a:xfrm>
            <a:off x="7126834" y="2706624"/>
            <a:ext cx="4806086" cy="1602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F9A9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8274" y="2761488"/>
            <a:ext cx="457200" cy="45720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7721194" y="2779776"/>
            <a:ext cx="41202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Chain</a:t>
            </a:r>
            <a:endParaRPr lang="en-US" sz="1000" dirty="0"/>
          </a:p>
        </p:txBody>
      </p:sp>
      <p:sp>
        <p:nvSpPr>
          <p:cNvPr id="65" name="Text 48"/>
          <p:cNvSpPr/>
          <p:nvPr/>
        </p:nvSpPr>
        <p:spPr>
          <a:xfrm>
            <a:off x="7721194" y="2962656"/>
            <a:ext cx="41202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</a:t>
            </a:r>
            <a:endParaRPr lang="en-US" sz="800" dirty="0"/>
          </a:p>
        </p:txBody>
      </p:sp>
      <p:sp>
        <p:nvSpPr>
          <p:cNvPr id="66" name="Shape 49"/>
          <p:cNvSpPr/>
          <p:nvPr/>
        </p:nvSpPr>
        <p:spPr>
          <a:xfrm>
            <a:off x="7199986" y="3255264"/>
            <a:ext cx="4659782" cy="228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50"/>
          <p:cNvSpPr/>
          <p:nvPr/>
        </p:nvSpPr>
        <p:spPr>
          <a:xfrm>
            <a:off x="7263994" y="3264408"/>
            <a:ext cx="43488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Groq (Free Tier)</a:t>
            </a:r>
            <a:endParaRPr lang="en-US" sz="850" dirty="0"/>
          </a:p>
        </p:txBody>
      </p:sp>
      <p:sp>
        <p:nvSpPr>
          <p:cNvPr id="68" name="Text 51"/>
          <p:cNvSpPr/>
          <p:nvPr/>
        </p:nvSpPr>
        <p:spPr>
          <a:xfrm>
            <a:off x="7263994" y="3374136"/>
            <a:ext cx="434888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~200 tok/s</a:t>
            </a:r>
            <a:endParaRPr lang="en-US" sz="70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5013" y="3465576"/>
            <a:ext cx="109728" cy="73152"/>
          </a:xfrm>
          <a:prstGeom prst="rect">
            <a:avLst/>
          </a:prstGeom>
        </p:spPr>
      </p:pic>
      <p:sp>
        <p:nvSpPr>
          <p:cNvPr id="70" name="Shape 52"/>
          <p:cNvSpPr/>
          <p:nvPr/>
        </p:nvSpPr>
        <p:spPr>
          <a:xfrm>
            <a:off x="7199986" y="3529584"/>
            <a:ext cx="4659782" cy="2286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53"/>
          <p:cNvSpPr/>
          <p:nvPr/>
        </p:nvSpPr>
        <p:spPr>
          <a:xfrm>
            <a:off x="7263994" y="3538728"/>
            <a:ext cx="43488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Ollama (Mistral-7B)</a:t>
            </a:r>
            <a:endParaRPr lang="en-US" sz="850" dirty="0"/>
          </a:p>
        </p:txBody>
      </p:sp>
      <p:sp>
        <p:nvSpPr>
          <p:cNvPr id="72" name="Text 54"/>
          <p:cNvSpPr/>
          <p:nvPr/>
        </p:nvSpPr>
        <p:spPr>
          <a:xfrm>
            <a:off x="7263994" y="3648456"/>
            <a:ext cx="434888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no API needed</a:t>
            </a:r>
            <a:endParaRPr lang="en-US" sz="700" dirty="0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5013" y="3739896"/>
            <a:ext cx="109728" cy="73152"/>
          </a:xfrm>
          <a:prstGeom prst="rect">
            <a:avLst/>
          </a:prstGeom>
        </p:spPr>
      </p:pic>
      <p:sp>
        <p:nvSpPr>
          <p:cNvPr id="74" name="Shape 55"/>
          <p:cNvSpPr/>
          <p:nvPr/>
        </p:nvSpPr>
        <p:spPr>
          <a:xfrm>
            <a:off x="7199986" y="3803904"/>
            <a:ext cx="4659782" cy="228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56"/>
          <p:cNvSpPr/>
          <p:nvPr/>
        </p:nvSpPr>
        <p:spPr>
          <a:xfrm>
            <a:off x="7263994" y="3813048"/>
            <a:ext cx="43488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Flan-T5 (CPU)</a:t>
            </a:r>
            <a:endParaRPr lang="en-US" sz="850" dirty="0"/>
          </a:p>
        </p:txBody>
      </p:sp>
      <p:sp>
        <p:nvSpPr>
          <p:cNvPr id="76" name="Text 57"/>
          <p:cNvSpPr/>
          <p:nvPr/>
        </p:nvSpPr>
        <p:spPr>
          <a:xfrm>
            <a:off x="7263994" y="3922776"/>
            <a:ext cx="434888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700" dirty="0"/>
          </a:p>
        </p:txBody>
      </p:sp>
      <p:sp>
        <p:nvSpPr>
          <p:cNvPr id="77" name="Shape 58"/>
          <p:cNvSpPr/>
          <p:nvPr/>
        </p:nvSpPr>
        <p:spPr>
          <a:xfrm>
            <a:off x="7199986" y="4081954"/>
            <a:ext cx="4659782" cy="1828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59"/>
          <p:cNvSpPr/>
          <p:nvPr/>
        </p:nvSpPr>
        <p:spPr>
          <a:xfrm>
            <a:off x="7243877" y="4075985"/>
            <a:ext cx="4531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Queue — streams via WebSocket</a:t>
            </a:r>
            <a:endParaRPr lang="en-US" sz="750" dirty="0"/>
          </a:p>
        </p:txBody>
      </p:sp>
      <p:pic>
        <p:nvPicPr>
          <p:cNvPr id="7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152" y="4281075"/>
            <a:ext cx="182880" cy="228600"/>
          </a:xfrm>
          <a:prstGeom prst="rect">
            <a:avLst/>
          </a:prstGeom>
        </p:spPr>
      </p:pic>
      <p:sp>
        <p:nvSpPr>
          <p:cNvPr id="80" name="Shape 60"/>
          <p:cNvSpPr/>
          <p:nvPr/>
        </p:nvSpPr>
        <p:spPr>
          <a:xfrm>
            <a:off x="137160" y="4518819"/>
            <a:ext cx="11887200" cy="502920"/>
          </a:xfrm>
          <a:prstGeom prst="roundRect">
            <a:avLst>
              <a:gd name="adj" fmla="val 18182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1" name="Shape 61"/>
          <p:cNvSpPr/>
          <p:nvPr/>
        </p:nvSpPr>
        <p:spPr>
          <a:xfrm>
            <a:off x="113386" y="4520868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EF6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62"/>
          <p:cNvSpPr/>
          <p:nvPr/>
        </p:nvSpPr>
        <p:spPr>
          <a:xfrm>
            <a:off x="1325880" y="4528150"/>
            <a:ext cx="228600" cy="502920"/>
          </a:xfrm>
          <a:prstGeom prst="rect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63"/>
          <p:cNvSpPr/>
          <p:nvPr/>
        </p:nvSpPr>
        <p:spPr>
          <a:xfrm>
            <a:off x="160020" y="452815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Caching Layer</a:t>
            </a:r>
            <a:endParaRPr lang="en-US" sz="1100" dirty="0"/>
          </a:p>
        </p:txBody>
      </p:sp>
      <p:pic>
        <p:nvPicPr>
          <p:cNvPr id="84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28800" y="4592719"/>
            <a:ext cx="420624" cy="420624"/>
          </a:xfrm>
          <a:prstGeom prst="rect">
            <a:avLst/>
          </a:prstGeom>
        </p:spPr>
      </p:pic>
      <p:sp>
        <p:nvSpPr>
          <p:cNvPr id="85" name="Text 64"/>
          <p:cNvSpPr/>
          <p:nvPr/>
        </p:nvSpPr>
        <p:spPr>
          <a:xfrm>
            <a:off x="2304288" y="4518818"/>
            <a:ext cx="9464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Query result caching &amp; session management</a:t>
            </a:r>
            <a:endParaRPr lang="en-US" sz="1000" dirty="0"/>
          </a:p>
        </p:txBody>
      </p:sp>
      <p:pic>
        <p:nvPicPr>
          <p:cNvPr id="86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152" y="4951382"/>
            <a:ext cx="186613" cy="233266"/>
          </a:xfrm>
          <a:prstGeom prst="rect">
            <a:avLst/>
          </a:prstGeom>
        </p:spPr>
      </p:pic>
      <p:sp>
        <p:nvSpPr>
          <p:cNvPr id="87" name="Shape 65"/>
          <p:cNvSpPr/>
          <p:nvPr/>
        </p:nvSpPr>
        <p:spPr>
          <a:xfrm>
            <a:off x="137160" y="5193792"/>
            <a:ext cx="11887200" cy="1600200"/>
          </a:xfrm>
          <a:prstGeom prst="roundRect">
            <a:avLst>
              <a:gd name="adj" fmla="val 8571"/>
            </a:avLst>
          </a:prstGeom>
          <a:solidFill>
            <a:srgbClr val="F3E5F5"/>
          </a:solidFill>
          <a:ln w="12700">
            <a:solidFill>
              <a:srgbClr val="AB47B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Shape 66"/>
          <p:cNvSpPr/>
          <p:nvPr/>
        </p:nvSpPr>
        <p:spPr>
          <a:xfrm>
            <a:off x="137160" y="5193792"/>
            <a:ext cx="1417320" cy="1600200"/>
          </a:xfrm>
          <a:prstGeom prst="roundRect">
            <a:avLst>
              <a:gd name="adj" fmla="val 9677"/>
            </a:avLst>
          </a:prstGeom>
          <a:solidFill>
            <a:srgbClr val="7B1F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67"/>
          <p:cNvSpPr/>
          <p:nvPr/>
        </p:nvSpPr>
        <p:spPr>
          <a:xfrm>
            <a:off x="1280160" y="5193792"/>
            <a:ext cx="274320" cy="160020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68"/>
          <p:cNvSpPr/>
          <p:nvPr/>
        </p:nvSpPr>
        <p:spPr>
          <a:xfrm>
            <a:off x="182880" y="5193792"/>
            <a:ext cx="1325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</a:t>
            </a:r>
            <a:endParaRPr lang="en-US" sz="1400" dirty="0"/>
          </a:p>
        </p:txBody>
      </p:sp>
      <p:pic>
        <p:nvPicPr>
          <p:cNvPr id="91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9928" y="5330952"/>
            <a:ext cx="594360" cy="594360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1673352" y="5943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(Dense Vectors)</a:t>
            </a:r>
            <a:endParaRPr lang="en-US" sz="850" dirty="0"/>
          </a:p>
        </p:txBody>
      </p:sp>
      <p:pic>
        <p:nvPicPr>
          <p:cNvPr id="9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68880" y="5330952"/>
            <a:ext cx="594360" cy="594360"/>
          </a:xfrm>
          <a:prstGeom prst="rect">
            <a:avLst/>
          </a:prstGeom>
        </p:spPr>
      </p:pic>
      <p:sp>
        <p:nvSpPr>
          <p:cNvPr id="94" name="Text 70"/>
          <p:cNvSpPr/>
          <p:nvPr/>
        </p:nvSpPr>
        <p:spPr>
          <a:xfrm>
            <a:off x="2404872" y="5943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Index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(Sparse Tokens)</a:t>
            </a:r>
            <a:endParaRPr lang="en-US" sz="850" dirty="0"/>
          </a:p>
        </p:txBody>
      </p:sp>
      <p:sp>
        <p:nvSpPr>
          <p:cNvPr id="95" name="Shape 71"/>
          <p:cNvSpPr/>
          <p:nvPr/>
        </p:nvSpPr>
        <p:spPr>
          <a:xfrm>
            <a:off x="3566160" y="5330952"/>
            <a:ext cx="25603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72"/>
          <p:cNvSpPr/>
          <p:nvPr/>
        </p:nvSpPr>
        <p:spPr>
          <a:xfrm>
            <a:off x="3566160" y="5330952"/>
            <a:ext cx="2560320" cy="237744"/>
          </a:xfrm>
          <a:prstGeom prst="rect">
            <a:avLst/>
          </a:prstGeom>
          <a:solidFill>
            <a:srgbClr val="E0E0E0"/>
          </a:solidFill>
          <a:ln w="1016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73"/>
          <p:cNvSpPr/>
          <p:nvPr/>
        </p:nvSpPr>
        <p:spPr>
          <a:xfrm>
            <a:off x="3639312" y="53309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8" name="Text 74"/>
          <p:cNvSpPr/>
          <p:nvPr/>
        </p:nvSpPr>
        <p:spPr>
          <a:xfrm>
            <a:off x="3657600" y="5568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  (PK)</a:t>
            </a:r>
            <a:endParaRPr lang="en-US" sz="800" dirty="0"/>
          </a:p>
        </p:txBody>
      </p:sp>
      <p:sp>
        <p:nvSpPr>
          <p:cNvPr id="99" name="Shape 75"/>
          <p:cNvSpPr/>
          <p:nvPr/>
        </p:nvSpPr>
        <p:spPr>
          <a:xfrm>
            <a:off x="3566160" y="5769864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76"/>
          <p:cNvSpPr/>
          <p:nvPr/>
        </p:nvSpPr>
        <p:spPr>
          <a:xfrm>
            <a:off x="3657600" y="5769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800" dirty="0"/>
          </a:p>
        </p:txBody>
      </p:sp>
      <p:sp>
        <p:nvSpPr>
          <p:cNvPr id="101" name="Shape 77"/>
          <p:cNvSpPr/>
          <p:nvPr/>
        </p:nvSpPr>
        <p:spPr>
          <a:xfrm>
            <a:off x="3566160" y="5971032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78"/>
          <p:cNvSpPr/>
          <p:nvPr/>
        </p:nvSpPr>
        <p:spPr>
          <a:xfrm>
            <a:off x="3657600" y="5971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source_org</a:t>
            </a:r>
            <a:endParaRPr lang="en-US" sz="800" dirty="0"/>
          </a:p>
        </p:txBody>
      </p:sp>
      <p:sp>
        <p:nvSpPr>
          <p:cNvPr id="103" name="Shape 79"/>
          <p:cNvSpPr/>
          <p:nvPr/>
        </p:nvSpPr>
        <p:spPr>
          <a:xfrm>
            <a:off x="3566160" y="6172200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80"/>
          <p:cNvSpPr/>
          <p:nvPr/>
        </p:nvSpPr>
        <p:spPr>
          <a:xfrm>
            <a:off x="3657600" y="6172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page_count</a:t>
            </a:r>
            <a:endParaRPr lang="en-US" sz="800" dirty="0"/>
          </a:p>
        </p:txBody>
      </p:sp>
      <p:sp>
        <p:nvSpPr>
          <p:cNvPr id="105" name="Shape 81"/>
          <p:cNvSpPr/>
          <p:nvPr/>
        </p:nvSpPr>
        <p:spPr>
          <a:xfrm>
            <a:off x="6355080" y="5330952"/>
            <a:ext cx="25603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82"/>
          <p:cNvSpPr/>
          <p:nvPr/>
        </p:nvSpPr>
        <p:spPr>
          <a:xfrm>
            <a:off x="6355080" y="5330952"/>
            <a:ext cx="2560320" cy="237744"/>
          </a:xfrm>
          <a:prstGeom prst="rect">
            <a:avLst/>
          </a:prstGeom>
          <a:solidFill>
            <a:srgbClr val="E0E0E0"/>
          </a:solidFill>
          <a:ln w="1016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83"/>
          <p:cNvSpPr/>
          <p:nvPr/>
        </p:nvSpPr>
        <p:spPr>
          <a:xfrm>
            <a:off x="6428232" y="53309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00" dirty="0"/>
          </a:p>
        </p:txBody>
      </p:sp>
      <p:sp>
        <p:nvSpPr>
          <p:cNvPr id="108" name="Text 84"/>
          <p:cNvSpPr/>
          <p:nvPr/>
        </p:nvSpPr>
        <p:spPr>
          <a:xfrm>
            <a:off x="6446520" y="5568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chunk_id  (PK)</a:t>
            </a:r>
            <a:endParaRPr lang="en-US" sz="800" dirty="0"/>
          </a:p>
        </p:txBody>
      </p:sp>
      <p:sp>
        <p:nvSpPr>
          <p:cNvPr id="109" name="Shape 85"/>
          <p:cNvSpPr/>
          <p:nvPr/>
        </p:nvSpPr>
        <p:spPr>
          <a:xfrm>
            <a:off x="6355080" y="5769864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86"/>
          <p:cNvSpPr/>
          <p:nvPr/>
        </p:nvSpPr>
        <p:spPr>
          <a:xfrm>
            <a:off x="6446520" y="5769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  (FK → documents)</a:t>
            </a:r>
            <a:endParaRPr lang="en-US" sz="800" dirty="0"/>
          </a:p>
        </p:txBody>
      </p:sp>
      <p:sp>
        <p:nvSpPr>
          <p:cNvPr id="111" name="Shape 87"/>
          <p:cNvSpPr/>
          <p:nvPr/>
        </p:nvSpPr>
        <p:spPr>
          <a:xfrm>
            <a:off x="6355080" y="5971032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88"/>
          <p:cNvSpPr/>
          <p:nvPr/>
        </p:nvSpPr>
        <p:spPr>
          <a:xfrm>
            <a:off x="6446520" y="5971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text_content</a:t>
            </a:r>
            <a:endParaRPr lang="en-US" sz="800" dirty="0"/>
          </a:p>
        </p:txBody>
      </p:sp>
      <p:sp>
        <p:nvSpPr>
          <p:cNvPr id="113" name="Shape 89"/>
          <p:cNvSpPr/>
          <p:nvPr/>
        </p:nvSpPr>
        <p:spPr>
          <a:xfrm>
            <a:off x="6355080" y="6172200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90"/>
          <p:cNvSpPr/>
          <p:nvPr/>
        </p:nvSpPr>
        <p:spPr>
          <a:xfrm>
            <a:off x="6446520" y="6172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 (384-dim)</a:t>
            </a:r>
            <a:endParaRPr lang="en-US" sz="800" dirty="0"/>
          </a:p>
        </p:txBody>
      </p:sp>
      <p:sp>
        <p:nvSpPr>
          <p:cNvPr id="115" name="Shape 91"/>
          <p:cNvSpPr/>
          <p:nvPr/>
        </p:nvSpPr>
        <p:spPr>
          <a:xfrm>
            <a:off x="9144000" y="5330952"/>
            <a:ext cx="256032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92"/>
          <p:cNvSpPr/>
          <p:nvPr/>
        </p:nvSpPr>
        <p:spPr>
          <a:xfrm>
            <a:off x="9144000" y="5330952"/>
            <a:ext cx="2560320" cy="237744"/>
          </a:xfrm>
          <a:prstGeom prst="rect">
            <a:avLst/>
          </a:prstGeom>
          <a:solidFill>
            <a:srgbClr val="E0E0E0"/>
          </a:solidFill>
          <a:ln w="1016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93"/>
          <p:cNvSpPr/>
          <p:nvPr/>
        </p:nvSpPr>
        <p:spPr>
          <a:xfrm>
            <a:off x="9217152" y="53309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query_logs</a:t>
            </a:r>
            <a:endParaRPr lang="en-US" sz="900" dirty="0"/>
          </a:p>
        </p:txBody>
      </p:sp>
      <p:sp>
        <p:nvSpPr>
          <p:cNvPr id="118" name="Text 94"/>
          <p:cNvSpPr/>
          <p:nvPr/>
        </p:nvSpPr>
        <p:spPr>
          <a:xfrm>
            <a:off x="9235440" y="5568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query_id  (PK)</a:t>
            </a:r>
            <a:endParaRPr lang="en-US" sz="800" dirty="0"/>
          </a:p>
        </p:txBody>
      </p:sp>
      <p:sp>
        <p:nvSpPr>
          <p:cNvPr id="119" name="Shape 95"/>
          <p:cNvSpPr/>
          <p:nvPr/>
        </p:nvSpPr>
        <p:spPr>
          <a:xfrm>
            <a:off x="9144000" y="5769864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96"/>
          <p:cNvSpPr/>
          <p:nvPr/>
        </p:nvSpPr>
        <p:spPr>
          <a:xfrm>
            <a:off x="9235440" y="5769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21" name="Shape 97"/>
          <p:cNvSpPr/>
          <p:nvPr/>
        </p:nvSpPr>
        <p:spPr>
          <a:xfrm>
            <a:off x="9144000" y="5971032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98"/>
          <p:cNvSpPr/>
          <p:nvPr/>
        </p:nvSpPr>
        <p:spPr>
          <a:xfrm>
            <a:off x="9235440" y="5971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800" dirty="0"/>
          </a:p>
        </p:txBody>
      </p:sp>
      <p:sp>
        <p:nvSpPr>
          <p:cNvPr id="123" name="Shape 99"/>
          <p:cNvSpPr/>
          <p:nvPr/>
        </p:nvSpPr>
        <p:spPr>
          <a:xfrm>
            <a:off x="9144000" y="6172200"/>
            <a:ext cx="25603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100"/>
          <p:cNvSpPr/>
          <p:nvPr/>
        </p:nvSpPr>
        <p:spPr>
          <a:xfrm>
            <a:off x="9235440" y="6172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61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confidence_score</a:t>
            </a:r>
            <a:endParaRPr lang="en-US" sz="800" dirty="0"/>
          </a:p>
        </p:txBody>
      </p:sp>
      <p:pic>
        <p:nvPicPr>
          <p:cNvPr id="125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16752" y="5724144"/>
            <a:ext cx="347472" cy="137160"/>
          </a:xfrm>
          <a:prstGeom prst="rect">
            <a:avLst/>
          </a:prstGeom>
        </p:spPr>
      </p:pic>
      <p:pic>
        <p:nvPicPr>
          <p:cNvPr id="126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3960" y="5724144"/>
            <a:ext cx="347472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Pipeline — BaseAgent Interface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implements process(), health_check(), and declares its I/O schema — plug in or out without breaking the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9260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BaseAgent 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process(input)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logic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health_check()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agent status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input_schema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1821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 for input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47472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output_schema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822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 for output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11480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462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agent identifier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75488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enabled: bool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5102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via config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539496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str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742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105156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566160" y="1051560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0" y="1188720"/>
            <a:ext cx="822960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0" y="1179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57600" y="1490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DocProcessor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&amp; extraction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87568" y="105156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687568" y="1051560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779008" y="1188720"/>
            <a:ext cx="822960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779008" y="1179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779008" y="1490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79008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normalization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08976" y="105156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808976" y="1051560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900416" y="1188720"/>
            <a:ext cx="822960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900416" y="1179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900416" y="1490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00416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vectorization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930384" y="105156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9930384" y="1051560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0021824" y="1188720"/>
            <a:ext cx="822960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0021824" y="1179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021824" y="1490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TopicModel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21824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 extraction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66160" y="239572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566160" y="2395728"/>
            <a:ext cx="20116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657600" y="2532888"/>
            <a:ext cx="822960" cy="201168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657600" y="25237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6576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65760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87568" y="239572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687568" y="2395728"/>
            <a:ext cx="20116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779008" y="2532888"/>
            <a:ext cx="822960" cy="201168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779008" y="25237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779008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779008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dense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08976" y="239572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7808976" y="2395728"/>
            <a:ext cx="20116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7900416" y="2532888"/>
            <a:ext cx="822960" cy="201168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900416" y="25237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900416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Reranker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900416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scoring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930384" y="2395728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9930384" y="2395728"/>
            <a:ext cx="20116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10021824" y="2532888"/>
            <a:ext cx="822960" cy="201168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10021824" y="25237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0021824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Synthesizer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021824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566160" y="3739896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3566160" y="3739896"/>
            <a:ext cx="201168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3657600" y="3877056"/>
            <a:ext cx="822960" cy="201168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657600" y="3867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657600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DebateAgent A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657600" y="4517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position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687568" y="3739896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5687568" y="3739896"/>
            <a:ext cx="201168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5779008" y="3877056"/>
            <a:ext cx="822960" cy="201168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5779008" y="3867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779008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DebateAgent B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779008" y="4517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position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808976" y="3739896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7808976" y="3739896"/>
            <a:ext cx="201168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7900416" y="3877056"/>
            <a:ext cx="822960" cy="201168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7900416" y="3867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900416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Verifier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900416" y="4517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claims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930384" y="3739896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9930384" y="3739896"/>
            <a:ext cx="201168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10021824" y="3877056"/>
            <a:ext cx="822960" cy="201168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10021824" y="38679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10021824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NLI Agent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0021824" y="4517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 scoring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566160" y="5084064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3566160" y="5084064"/>
            <a:ext cx="20116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3657600" y="5221224"/>
            <a:ext cx="822960" cy="201168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657600" y="5212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3657600" y="5522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3657600" y="5861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 metrics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687568" y="5084064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5687568" y="5084064"/>
            <a:ext cx="201168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5779008" y="5221224"/>
            <a:ext cx="822960" cy="201168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5779008" y="5212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779008" y="5522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MultiLingual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5779008" y="5861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detect/translate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808976" y="5084064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7808976" y="5084064"/>
            <a:ext cx="201168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7900416" y="5221224"/>
            <a:ext cx="822960" cy="201168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7900416" y="5212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7900416" y="5522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7900416" y="5861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content filter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9930384" y="5084064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9930384" y="5084064"/>
            <a:ext cx="201168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10021824" y="5221224"/>
            <a:ext cx="822960" cy="201168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10021824" y="52120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10021824" y="5522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10021824" y="5861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persistence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 — Ingestion &amp; Query Pipelines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pipelines share the same vector store: documents flow in from the left, queries resolve on the right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41148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03520" cy="621792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5720" cy="6217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72821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55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PDF Upload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9110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pre-loaded demo documents + real-time user uploads via Dashboard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220370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5303520" cy="621792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45720" cy="6217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2441448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3682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DocumentProcessor 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6243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extraction → text, tables, metadata, page numbers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0" y="291693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5303520" cy="621792"/>
          </a:xfrm>
          <a:prstGeom prst="rect">
            <a:avLst/>
          </a:prstGeom>
          <a:solidFill>
            <a:srgbClr val="DBEAF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3026664"/>
            <a:ext cx="45720" cy="6217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081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337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normalization, language detection, section tagging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71800" y="363016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739896"/>
            <a:ext cx="5303520" cy="62179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" y="3739896"/>
            <a:ext cx="4572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0080" y="3867912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0507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Sentence-boundary aware chunking with sliding window overlap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71800" y="43434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453128"/>
            <a:ext cx="5303520" cy="62179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" y="4453128"/>
            <a:ext cx="4572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40080" y="4581144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0080" y="4581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4507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EmbeddingAgent (SBERT)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47640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→ 384-dim dense vectors per chunk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71800" y="50566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5166360"/>
            <a:ext cx="5303520" cy="621792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" y="5166360"/>
            <a:ext cx="45720" cy="6217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0080" y="5294376"/>
            <a:ext cx="329184" cy="32918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0080" y="5294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97280" y="52212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Index Storage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54772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(dense vectors)  +  BM25 (sparse token index)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71800" y="57698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5879592"/>
            <a:ext cx="5303520" cy="621792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57200" y="5879592"/>
            <a:ext cx="45720" cy="62179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40080" y="6007608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40080" y="6007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97280" y="59344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TopicModelAgent (LDA)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97280" y="61904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NLP: topic distribution per document for dashboard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9360" y="1097280"/>
            <a:ext cx="5394960" cy="41148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46520" y="1115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PIPELINE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09360" y="1600200"/>
            <a:ext cx="5394960" cy="62179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309360" y="1600200"/>
            <a:ext cx="4572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492240" y="1728216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492240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949440" y="1655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949440" y="1911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via Chat UI or API endpoint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869680" y="220370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09360" y="2313432"/>
            <a:ext cx="5394960" cy="62179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309360" y="2313432"/>
            <a:ext cx="4572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492240" y="2441448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49224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949440" y="2368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PlannerAgent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949440" y="2624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complex queries into sub-questions + routing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869680" y="291693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309360" y="3026664"/>
            <a:ext cx="5394960" cy="621792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309360" y="3026664"/>
            <a:ext cx="45720" cy="6217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492240" y="3154680"/>
            <a:ext cx="329184" cy="32918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4922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94944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RetrieverAgent (Hybrid)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94944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sparse + SBERT dense → α-weighted fusion scoring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869680" y="363016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309360" y="3739896"/>
            <a:ext cx="5394960" cy="621792"/>
          </a:xfrm>
          <a:prstGeom prst="rect">
            <a:avLst/>
          </a:prstGeom>
          <a:solidFill>
            <a:srgbClr val="EDE9FE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6309360" y="3739896"/>
            <a:ext cx="45720" cy="62179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6492240" y="3867912"/>
            <a:ext cx="329184" cy="329184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649224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9494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RerankerAgent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949440" y="4050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cross-encoder re-scores top-k passages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869680" y="43434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309360" y="4453128"/>
            <a:ext cx="5394960" cy="621792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6309360" y="4453128"/>
            <a:ext cx="45720" cy="62179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6492240" y="4581144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492240" y="4581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949440" y="4507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SynthesizerAgent + Debate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949440" y="47640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answer → DebateA/B stress-test → consensus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869680" y="50566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309360" y="5166360"/>
            <a:ext cx="5394960" cy="621792"/>
          </a:xfrm>
          <a:prstGeom prst="rect">
            <a:avLst/>
          </a:prstGeom>
          <a:solidFill>
            <a:srgbClr val="FFE4E6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6309360" y="5166360"/>
            <a:ext cx="45720" cy="621792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6492240" y="5294376"/>
            <a:ext cx="329184" cy="329184"/>
          </a:xfrm>
          <a:prstGeom prst="ellipse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6492240" y="5294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6949440" y="5221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VerifierAgent (NLI)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6949440" y="5477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BART-large-MNLI checks entailment ≥ 0.8 — fail → re-retrieve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869680" y="57698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309360" y="5879592"/>
            <a:ext cx="5394960" cy="621792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6309360" y="5879592"/>
            <a:ext cx="45720" cy="62179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6492240" y="6007608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6492240" y="6007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6949440" y="5934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949440" y="6190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with page numbers, confidence score, trace log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760720" y="2971800"/>
            <a:ext cx="548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dash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5760720" y="2971800"/>
            <a:ext cx="548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Provider Chain — Auto-Failover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abstraction layer: if one provider fails or hits rate limits, the system automatically falls to the next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2940" y="137160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2940" y="1371600"/>
            <a:ext cx="246888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5820" y="1600200"/>
            <a:ext cx="914400" cy="256032"/>
          </a:xfrm>
          <a:prstGeom prst="rect">
            <a:avLst/>
          </a:prstGeom>
          <a:solidFill>
            <a:srgbClr val="1E40A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582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43100" y="1591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 tok/s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582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inference via free tier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available option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limited (30 RPM)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failover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51860" y="137160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51860" y="1371600"/>
            <a:ext cx="2468880" cy="54864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34740" y="1600200"/>
            <a:ext cx="914400" cy="256032"/>
          </a:xfrm>
          <a:prstGeom prst="rect">
            <a:avLst/>
          </a:prstGeom>
          <a:solidFill>
            <a:srgbClr val="04785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3474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32020" y="1591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tok/s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347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(Mistral-7B)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3474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on user machine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dependency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GPU for speed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1500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failover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40780" y="137160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40780" y="1371600"/>
            <a:ext cx="246888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23660" y="1600200"/>
            <a:ext cx="914400" cy="256032"/>
          </a:xfrm>
          <a:prstGeom prst="rect">
            <a:avLst/>
          </a:prstGeom>
          <a:solidFill>
            <a:srgbClr val="B45309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2366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20940" y="1591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tok/s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2366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Flan-T5 (HuggingFace)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2366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fallback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available, zero 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but reliable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0392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failover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29700" y="1371600"/>
            <a:ext cx="2468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029700" y="1371600"/>
            <a:ext cx="2468880" cy="54864"/>
          </a:xfrm>
          <a:prstGeom prst="rect">
            <a:avLst/>
          </a:prstGeom>
          <a:solidFill>
            <a:srgbClr val="BE12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212580" y="1600200"/>
            <a:ext cx="914400" cy="256032"/>
          </a:xfrm>
          <a:prstGeom prst="rect">
            <a:avLst/>
          </a:prstGeom>
          <a:solidFill>
            <a:srgbClr val="BE123C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212580" y="1591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09860" y="1591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1258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12580" y="25603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Informative error message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retry or alternative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for monitoring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440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4400" y="52120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Application sends request to the LLM abstraction layer with model-agnostic prompt format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Provider chain attempts Groq first — if rate-limited or unavailable, catches the error and tries Ollama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If Ollama is not running, falls to Flan-T5 which runs on CPU — always available, no external dependency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If all providers fail, returns a graceful error with diagnostics — never crashes, always logs the chain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859</Words>
  <Application>Microsoft Office PowerPoint</Application>
  <PresentationFormat>Widescreen</PresentationFormat>
  <Paragraphs>257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PolicyLens - System Architecture</dc:title>
  <dc:subject>PptxGenJS Presentation</dc:subject>
  <dc:creator>Sarvesh Mokal</dc:creator>
  <cp:lastModifiedBy>Uday Mokal, Sarvesh (Stud SRH-University)</cp:lastModifiedBy>
  <cp:revision>2</cp:revision>
  <dcterms:created xsi:type="dcterms:W3CDTF">2026-04-12T11:34:44Z</dcterms:created>
  <dcterms:modified xsi:type="dcterms:W3CDTF">2026-04-12T12:25:13Z</dcterms:modified>
</cp:coreProperties>
</file>